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01811-046B-A54F-A48E-195CDDCF4A79}" v="9" dt="2025-12-08T13:18:28.009"/>
    <p1510:client id="{5DA1E1D1-0C74-CAAD-0C8C-9F744738E66D}" v="1" dt="2025-12-08T13:13:25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N COSMIN OUATU" userId="S::ion-cosmin.ouatu@s.unibuc.ro::17166acf-8f0d-4e2e-882d-ef31273c8be2" providerId="AD" clId="Web-{01001811-046B-A54F-A48E-195CDDCF4A79}"/>
    <pc:docChg chg="modSld">
      <pc:chgData name="ION COSMIN OUATU" userId="S::ion-cosmin.ouatu@s.unibuc.ro::17166acf-8f0d-4e2e-882d-ef31273c8be2" providerId="AD" clId="Web-{01001811-046B-A54F-A48E-195CDDCF4A79}" dt="2025-12-08T13:18:28.009" v="8" actId="20577"/>
      <pc:docMkLst>
        <pc:docMk/>
      </pc:docMkLst>
      <pc:sldChg chg="modSp">
        <pc:chgData name="ION COSMIN OUATU" userId="S::ion-cosmin.ouatu@s.unibuc.ro::17166acf-8f0d-4e2e-882d-ef31273c8be2" providerId="AD" clId="Web-{01001811-046B-A54F-A48E-195CDDCF4A79}" dt="2025-12-08T13:18:28.009" v="8" actId="20577"/>
        <pc:sldMkLst>
          <pc:docMk/>
          <pc:sldMk cId="0" sldId="260"/>
        </pc:sldMkLst>
        <pc:spChg chg="mod">
          <ac:chgData name="ION COSMIN OUATU" userId="S::ion-cosmin.ouatu@s.unibuc.ro::17166acf-8f0d-4e2e-882d-ef31273c8be2" providerId="AD" clId="Web-{01001811-046B-A54F-A48E-195CDDCF4A79}" dt="2025-12-08T13:18:28.009" v="8" actId="20577"/>
          <ac:spMkLst>
            <pc:docMk/>
            <pc:sldMk cId="0" sldId="260"/>
            <ac:spMk id="81" creationId="{00000000-0000-0000-0000-000000000000}"/>
          </ac:spMkLst>
        </pc:spChg>
      </pc:sldChg>
    </pc:docChg>
  </pc:docChgLst>
  <pc:docChgLst>
    <pc:chgData name="ION COSMIN OUATU" userId="S::ion-cosmin.ouatu@s.unibuc.ro::17166acf-8f0d-4e2e-882d-ef31273c8be2" providerId="AD" clId="Web-{5DA1E1D1-0C74-CAAD-0C8C-9F744738E66D}"/>
    <pc:docChg chg="modSld">
      <pc:chgData name="ION COSMIN OUATU" userId="S::ion-cosmin.ouatu@s.unibuc.ro::17166acf-8f0d-4e2e-882d-ef31273c8be2" providerId="AD" clId="Web-{5DA1E1D1-0C74-CAAD-0C8C-9F744738E66D}" dt="2025-12-08T13:13:25.010" v="0" actId="20577"/>
      <pc:docMkLst>
        <pc:docMk/>
      </pc:docMkLst>
      <pc:sldChg chg="modSp">
        <pc:chgData name="ION COSMIN OUATU" userId="S::ion-cosmin.ouatu@s.unibuc.ro::17166acf-8f0d-4e2e-882d-ef31273c8be2" providerId="AD" clId="Web-{5DA1E1D1-0C74-CAAD-0C8C-9F744738E66D}" dt="2025-12-08T13:13:25.010" v="0" actId="20577"/>
        <pc:sldMkLst>
          <pc:docMk/>
          <pc:sldMk cId="0" sldId="261"/>
        </pc:sldMkLst>
        <pc:spChg chg="mod">
          <ac:chgData name="ION COSMIN OUATU" userId="S::ion-cosmin.ouatu@s.unibuc.ro::17166acf-8f0d-4e2e-882d-ef31273c8be2" providerId="AD" clId="Web-{5DA1E1D1-0C74-CAAD-0C8C-9F744738E66D}" dt="2025-12-08T13:13:25.010" v="0" actId="20577"/>
          <ac:spMkLst>
            <pc:docMk/>
            <pc:sldMk cId="0" sldId="261"/>
            <ac:spMk id="8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59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86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0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36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99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710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95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81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7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2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13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758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79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270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609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4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41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8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1523880" y="1216800"/>
            <a:ext cx="9141840" cy="238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/>
            <a:r>
              <a:rPr sz="3200" b="1" dirty="0">
                <a:solidFill>
                  <a:srgbClr val="225588"/>
                </a:solidFill>
              </a:rPr>
              <a:t>FIFO-RSHD – Remote shell </a:t>
            </a:r>
            <a:r>
              <a:rPr sz="3200" b="1" dirty="0" err="1">
                <a:solidFill>
                  <a:srgbClr val="225588"/>
                </a:solidFill>
              </a:rPr>
              <a:t>prin</a:t>
            </a:r>
            <a:r>
              <a:rPr sz="3200" b="1" dirty="0">
                <a:solidFill>
                  <a:srgbClr val="225588"/>
                </a:solidFill>
              </a:rPr>
              <a:t> </a:t>
            </a:r>
            <a:r>
              <a:rPr sz="3200" b="1" dirty="0" err="1">
                <a:solidFill>
                  <a:srgbClr val="225588"/>
                </a:solidFill>
              </a:rPr>
              <a:t>fișiere</a:t>
            </a:r>
            <a:r>
              <a:rPr sz="3200" b="1" dirty="0">
                <a:solidFill>
                  <a:srgbClr val="225588"/>
                </a:solidFill>
              </a:rPr>
              <a:t> FIFO</a:t>
            </a:r>
          </a:p>
          <a:p>
            <a:endParaRPr sz="4000" b="1" dirty="0">
              <a:solidFill>
                <a:srgbClr val="225588"/>
              </a:solidFill>
            </a:endParaRPr>
          </a:p>
          <a:p>
            <a:r>
              <a:rPr sz="2000" b="1" dirty="0" err="1" smtClean="0">
                <a:solidFill>
                  <a:srgbClr val="225588"/>
                </a:solidFill>
              </a:rPr>
              <a:t>Autori</a:t>
            </a:r>
            <a:r>
              <a:rPr sz="2000" b="1" dirty="0" smtClean="0">
                <a:solidFill>
                  <a:srgbClr val="225588"/>
                </a:solidFill>
              </a:rPr>
              <a:t>:</a:t>
            </a:r>
          </a:p>
          <a:p>
            <a:r>
              <a:rPr sz="2000" b="1" dirty="0" err="1" smtClean="0">
                <a:solidFill>
                  <a:srgbClr val="225588"/>
                </a:solidFill>
              </a:rPr>
              <a:t>Almășan</a:t>
            </a:r>
            <a:r>
              <a:rPr sz="2000" b="1" dirty="0" smtClean="0">
                <a:solidFill>
                  <a:srgbClr val="225588"/>
                </a:solidFill>
              </a:rPr>
              <a:t> Eduard-</a:t>
            </a:r>
            <a:r>
              <a:rPr sz="2000" b="1" dirty="0" err="1" smtClean="0">
                <a:solidFill>
                  <a:srgbClr val="225588"/>
                </a:solidFill>
              </a:rPr>
              <a:t>Ștefan</a:t>
            </a:r>
            <a:endParaRPr sz="2000" b="1" dirty="0" smtClean="0">
              <a:solidFill>
                <a:srgbClr val="225588"/>
              </a:solidFill>
            </a:endParaRPr>
          </a:p>
          <a:p>
            <a:r>
              <a:rPr sz="2000" b="1" dirty="0" err="1" smtClean="0">
                <a:solidFill>
                  <a:srgbClr val="225588"/>
                </a:solidFill>
              </a:rPr>
              <a:t>Feraru</a:t>
            </a:r>
            <a:r>
              <a:rPr sz="2000" b="1" dirty="0" smtClean="0">
                <a:solidFill>
                  <a:srgbClr val="225588"/>
                </a:solidFill>
              </a:rPr>
              <a:t> </a:t>
            </a:r>
            <a:r>
              <a:rPr sz="2000" b="1" dirty="0" err="1" smtClean="0">
                <a:solidFill>
                  <a:srgbClr val="225588"/>
                </a:solidFill>
              </a:rPr>
              <a:t>Răzvan</a:t>
            </a:r>
            <a:r>
              <a:rPr sz="2000" b="1" dirty="0" smtClean="0">
                <a:solidFill>
                  <a:srgbClr val="225588"/>
                </a:solidFill>
              </a:rPr>
              <a:t>-Mihai</a:t>
            </a:r>
          </a:p>
          <a:p>
            <a:r>
              <a:rPr sz="2000" b="1" dirty="0" err="1" smtClean="0">
                <a:solidFill>
                  <a:srgbClr val="225588"/>
                </a:solidFill>
              </a:rPr>
              <a:t>Tiloiu</a:t>
            </a:r>
            <a:r>
              <a:rPr sz="2000" b="1" dirty="0" smtClean="0">
                <a:solidFill>
                  <a:srgbClr val="225588"/>
                </a:solidFill>
              </a:rPr>
              <a:t> Darius-Lucian</a:t>
            </a:r>
          </a:p>
          <a:p>
            <a:r>
              <a:rPr sz="2000" b="1" dirty="0" err="1" smtClean="0">
                <a:solidFill>
                  <a:srgbClr val="225588"/>
                </a:solidFill>
              </a:rPr>
              <a:t>Grupa</a:t>
            </a:r>
            <a:r>
              <a:rPr sz="2000" b="1" dirty="0" smtClean="0">
                <a:solidFill>
                  <a:srgbClr val="225588"/>
                </a:solidFill>
              </a:rPr>
              <a:t> 144</a:t>
            </a:r>
            <a:endParaRPr sz="2000" b="1" dirty="0">
              <a:solidFill>
                <a:srgbClr val="225588"/>
              </a:solidFill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1523880" y="3602160"/>
            <a:ext cx="9141840" cy="165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sz="2000">
                <a:solidFill>
                  <a:srgbClr val="333333"/>
                </a:solidFill>
              </a:rPr>
              <a:t>Universitatea din București</a:t>
            </a:r>
          </a:p>
          <a:p>
            <a:r>
              <a:rPr sz="2000">
                <a:solidFill>
                  <a:srgbClr val="333333"/>
                </a:solidFill>
              </a:rPr>
              <a:t>Facultatea de Matematică și Informatică</a:t>
            </a:r>
          </a:p>
          <a:p>
            <a:r>
              <a:rPr sz="2000">
                <a:solidFill>
                  <a:srgbClr val="333333"/>
                </a:solidFill>
              </a:rPr>
              <a:t>Departamentul de Informatică</a:t>
            </a:r>
          </a:p>
          <a:p>
            <a:r>
              <a:rPr sz="2000">
                <a:solidFill>
                  <a:srgbClr val="333333"/>
                </a:solidFill>
              </a:rPr>
              <a:t>Instrumente și tehnici de bază în informatică (ITBI)</a:t>
            </a:r>
          </a:p>
          <a:p>
            <a:r>
              <a:rPr sz="2000">
                <a:solidFill>
                  <a:srgbClr val="333333"/>
                </a:solidFill>
              </a:rPr>
              <a:t>An universitar 2025–2026</a:t>
            </a:r>
          </a:p>
          <a:p>
            <a:endParaRPr sz="2000">
              <a:solidFill>
                <a:srgbClr val="333333"/>
              </a:solidFill>
            </a:endParaRPr>
          </a:p>
          <a:p>
            <a:r>
              <a:rPr sz="2000">
                <a:solidFill>
                  <a:srgbClr val="333333"/>
                </a:solidFill>
              </a:rPr>
              <a:t>Coordonator: Miruna Floroiu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 dirty="0">
                <a:solidFill>
                  <a:srgbClr val="225588"/>
                </a:solidFill>
              </a:rPr>
              <a:t>Outline</a:t>
            </a:r>
          </a:p>
        </p:txBody>
      </p:sp>
      <p:sp>
        <p:nvSpPr>
          <p:cNvPr id="75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sz="2800" dirty="0">
                <a:solidFill>
                  <a:srgbClr val="333333"/>
                </a:solidFill>
              </a:rPr>
              <a:t>• </a:t>
            </a:r>
            <a:r>
              <a:rPr sz="2800" dirty="0" err="1">
                <a:solidFill>
                  <a:srgbClr val="333333"/>
                </a:solidFill>
              </a:rPr>
              <a:t>Descrierea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problemei</a:t>
            </a:r>
            <a:r>
              <a:rPr sz="2800" dirty="0">
                <a:solidFill>
                  <a:srgbClr val="333333"/>
                </a:solidFill>
              </a:rPr>
              <a:t> FIFO-RSHD </a:t>
            </a:r>
            <a:r>
              <a:rPr sz="2800" dirty="0" err="1">
                <a:solidFill>
                  <a:srgbClr val="333333"/>
                </a:solidFill>
              </a:rPr>
              <a:t>și</a:t>
            </a:r>
            <a:r>
              <a:rPr sz="2800" dirty="0">
                <a:solidFill>
                  <a:srgbClr val="333333"/>
                </a:solidFill>
              </a:rPr>
              <a:t> a </a:t>
            </a:r>
            <a:r>
              <a:rPr sz="2800" dirty="0" err="1">
                <a:solidFill>
                  <a:srgbClr val="333333"/>
                </a:solidFill>
              </a:rPr>
              <a:t>contextului</a:t>
            </a:r>
            <a:endParaRPr sz="2800" dirty="0">
              <a:solidFill>
                <a:srgbClr val="333333"/>
              </a:solidFill>
            </a:endParaRPr>
          </a:p>
          <a:p>
            <a:r>
              <a:rPr sz="2800" dirty="0">
                <a:solidFill>
                  <a:srgbClr val="333333"/>
                </a:solidFill>
              </a:rPr>
              <a:t>• </a:t>
            </a:r>
            <a:r>
              <a:rPr sz="2800" dirty="0" err="1">
                <a:solidFill>
                  <a:srgbClr val="333333"/>
                </a:solidFill>
              </a:rPr>
              <a:t>Specificația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soluției</a:t>
            </a:r>
            <a:r>
              <a:rPr sz="2800" dirty="0">
                <a:solidFill>
                  <a:srgbClr val="333333"/>
                </a:solidFill>
              </a:rPr>
              <a:t>: cum </a:t>
            </a:r>
            <a:r>
              <a:rPr sz="2800" dirty="0" err="1">
                <a:solidFill>
                  <a:srgbClr val="333333"/>
                </a:solidFill>
              </a:rPr>
              <a:t>comunică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clientul</a:t>
            </a:r>
            <a:r>
              <a:rPr sz="2800" dirty="0">
                <a:solidFill>
                  <a:srgbClr val="333333"/>
                </a:solidFill>
              </a:rPr>
              <a:t> cu </a:t>
            </a:r>
            <a:r>
              <a:rPr sz="2800" dirty="0" err="1">
                <a:solidFill>
                  <a:srgbClr val="333333"/>
                </a:solidFill>
              </a:rPr>
              <a:t>serverul</a:t>
            </a:r>
            <a:endParaRPr sz="2800" dirty="0">
              <a:solidFill>
                <a:srgbClr val="333333"/>
              </a:solidFill>
            </a:endParaRPr>
          </a:p>
          <a:p>
            <a:r>
              <a:rPr sz="2800" dirty="0">
                <a:solidFill>
                  <a:srgbClr val="333333"/>
                </a:solidFill>
              </a:rPr>
              <a:t>• Design </a:t>
            </a:r>
            <a:r>
              <a:rPr sz="2800" dirty="0" err="1">
                <a:solidFill>
                  <a:srgbClr val="333333"/>
                </a:solidFill>
              </a:rPr>
              <a:t>arhitectural</a:t>
            </a:r>
            <a:r>
              <a:rPr sz="2800" dirty="0">
                <a:solidFill>
                  <a:srgbClr val="333333"/>
                </a:solidFill>
              </a:rPr>
              <a:t>: client, server master, </a:t>
            </a:r>
            <a:r>
              <a:rPr sz="2800" dirty="0" err="1">
                <a:solidFill>
                  <a:srgbClr val="333333"/>
                </a:solidFill>
              </a:rPr>
              <a:t>servere</a:t>
            </a:r>
            <a:r>
              <a:rPr sz="2800" dirty="0">
                <a:solidFill>
                  <a:srgbClr val="333333"/>
                </a:solidFill>
              </a:rPr>
              <a:t> slave</a:t>
            </a:r>
          </a:p>
          <a:p>
            <a:r>
              <a:rPr sz="2800" dirty="0">
                <a:solidFill>
                  <a:srgbClr val="333333"/>
                </a:solidFill>
              </a:rPr>
              <a:t>• </a:t>
            </a:r>
            <a:r>
              <a:rPr sz="2800" dirty="0" err="1">
                <a:solidFill>
                  <a:srgbClr val="333333"/>
                </a:solidFill>
              </a:rPr>
              <a:t>Implementare</a:t>
            </a:r>
            <a:r>
              <a:rPr sz="2800" dirty="0">
                <a:solidFill>
                  <a:srgbClr val="333333"/>
                </a:solidFill>
              </a:rPr>
              <a:t>: </a:t>
            </a:r>
            <a:r>
              <a:rPr sz="2800" dirty="0" err="1">
                <a:solidFill>
                  <a:srgbClr val="333333"/>
                </a:solidFill>
              </a:rPr>
              <a:t>scripturi</a:t>
            </a:r>
            <a:r>
              <a:rPr sz="2800" dirty="0">
                <a:solidFill>
                  <a:srgbClr val="333333"/>
                </a:solidFill>
              </a:rPr>
              <a:t> shell, </a:t>
            </a:r>
            <a:r>
              <a:rPr sz="2800" dirty="0" err="1">
                <a:solidFill>
                  <a:srgbClr val="333333"/>
                </a:solidFill>
              </a:rPr>
              <a:t>fișier</a:t>
            </a:r>
            <a:r>
              <a:rPr sz="2800" dirty="0">
                <a:solidFill>
                  <a:srgbClr val="333333"/>
                </a:solidFill>
              </a:rPr>
              <a:t> de </a:t>
            </a:r>
            <a:r>
              <a:rPr sz="2800" dirty="0" err="1">
                <a:solidFill>
                  <a:srgbClr val="333333"/>
                </a:solidFill>
              </a:rPr>
              <a:t>configurare</a:t>
            </a:r>
            <a:r>
              <a:rPr sz="2800" dirty="0">
                <a:solidFill>
                  <a:srgbClr val="333333"/>
                </a:solidFill>
              </a:rPr>
              <a:t>, FIFO-</a:t>
            </a:r>
            <a:r>
              <a:rPr sz="2800" dirty="0" err="1">
                <a:solidFill>
                  <a:srgbClr val="333333"/>
                </a:solidFill>
              </a:rPr>
              <a:t>uri</a:t>
            </a:r>
            <a:endParaRPr sz="2800" dirty="0">
              <a:solidFill>
                <a:srgbClr val="333333"/>
              </a:solidFill>
            </a:endParaRPr>
          </a:p>
          <a:p>
            <a:r>
              <a:rPr sz="2800" dirty="0">
                <a:solidFill>
                  <a:srgbClr val="333333"/>
                </a:solidFill>
              </a:rPr>
              <a:t>• </a:t>
            </a:r>
            <a:r>
              <a:rPr sz="2800" dirty="0" err="1">
                <a:solidFill>
                  <a:srgbClr val="333333"/>
                </a:solidFill>
              </a:rPr>
              <a:t>Experimente</a:t>
            </a:r>
            <a:r>
              <a:rPr sz="2800" dirty="0">
                <a:solidFill>
                  <a:srgbClr val="333333"/>
                </a:solidFill>
              </a:rPr>
              <a:t>: </a:t>
            </a:r>
            <a:r>
              <a:rPr sz="2800" dirty="0" err="1">
                <a:solidFill>
                  <a:srgbClr val="333333"/>
                </a:solidFill>
              </a:rPr>
              <a:t>scenarii</a:t>
            </a:r>
            <a:r>
              <a:rPr sz="2800" dirty="0">
                <a:solidFill>
                  <a:srgbClr val="333333"/>
                </a:solidFill>
              </a:rPr>
              <a:t> de test </a:t>
            </a:r>
            <a:r>
              <a:rPr sz="2800" dirty="0" err="1">
                <a:solidFill>
                  <a:srgbClr val="333333"/>
                </a:solidFill>
              </a:rPr>
              <a:t>și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metrici</a:t>
            </a:r>
            <a:r>
              <a:rPr sz="2800" dirty="0">
                <a:solidFill>
                  <a:srgbClr val="333333"/>
                </a:solidFill>
              </a:rPr>
              <a:t> de </a:t>
            </a:r>
            <a:r>
              <a:rPr sz="2800" dirty="0" err="1">
                <a:solidFill>
                  <a:srgbClr val="333333"/>
                </a:solidFill>
              </a:rPr>
              <a:t>evaluare</a:t>
            </a:r>
            <a:endParaRPr sz="2800" dirty="0">
              <a:solidFill>
                <a:srgbClr val="333333"/>
              </a:solidFill>
            </a:endParaRPr>
          </a:p>
          <a:p>
            <a:r>
              <a:rPr sz="2800" dirty="0">
                <a:solidFill>
                  <a:srgbClr val="333333"/>
                </a:solidFill>
              </a:rPr>
              <a:t>• </a:t>
            </a:r>
            <a:r>
              <a:rPr sz="2800" dirty="0" err="1">
                <a:solidFill>
                  <a:srgbClr val="333333"/>
                </a:solidFill>
              </a:rPr>
              <a:t>Concluzii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și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pași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următori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pentru</a:t>
            </a:r>
            <a:r>
              <a:rPr sz="2800" dirty="0">
                <a:solidFill>
                  <a:srgbClr val="333333"/>
                </a:solidFill>
              </a:rPr>
              <a:t> </a:t>
            </a:r>
            <a:r>
              <a:rPr sz="2800" dirty="0" err="1">
                <a:solidFill>
                  <a:srgbClr val="333333"/>
                </a:solidFill>
              </a:rPr>
              <a:t>etapa</a:t>
            </a:r>
            <a:r>
              <a:rPr sz="2800" dirty="0">
                <a:solidFill>
                  <a:srgbClr val="333333"/>
                </a:solidFill>
              </a:rPr>
              <a:t> de demo</a:t>
            </a:r>
          </a:p>
          <a:p>
            <a:endParaRPr sz="28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>
                <a:solidFill>
                  <a:srgbClr val="225588"/>
                </a:solidFill>
              </a:rPr>
              <a:t>Descrierea problemei</a:t>
            </a:r>
          </a:p>
        </p:txBody>
      </p:sp>
      <p:sp>
        <p:nvSpPr>
          <p:cNvPr id="77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sz="2400" dirty="0">
                <a:solidFill>
                  <a:srgbClr val="333333"/>
                </a:solidFill>
              </a:rPr>
              <a:t>• Context: </a:t>
            </a:r>
            <a:r>
              <a:rPr sz="2400" dirty="0" err="1">
                <a:solidFill>
                  <a:srgbClr val="333333"/>
                </a:solidFill>
              </a:rPr>
              <a:t>sisteme</a:t>
            </a:r>
            <a:r>
              <a:rPr sz="2400" dirty="0">
                <a:solidFill>
                  <a:srgbClr val="333333"/>
                </a:solidFill>
              </a:rPr>
              <a:t> Unix/Linux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comunicare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între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procese</a:t>
            </a:r>
            <a:r>
              <a:rPr sz="2400" dirty="0">
                <a:solidFill>
                  <a:srgbClr val="333333"/>
                </a:solidFill>
              </a:rPr>
              <a:t> (IPC)</a:t>
            </a: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Dorim</a:t>
            </a:r>
            <a:r>
              <a:rPr sz="2400" dirty="0">
                <a:solidFill>
                  <a:srgbClr val="333333"/>
                </a:solidFill>
              </a:rPr>
              <a:t> un „remote shell” </a:t>
            </a:r>
            <a:r>
              <a:rPr sz="2400" dirty="0" err="1">
                <a:solidFill>
                  <a:srgbClr val="333333"/>
                </a:solidFill>
              </a:rPr>
              <a:t>simplificat</a:t>
            </a:r>
            <a:r>
              <a:rPr sz="2400" dirty="0">
                <a:solidFill>
                  <a:srgbClr val="333333"/>
                </a:solidFill>
              </a:rPr>
              <a:t>, </a:t>
            </a:r>
            <a:r>
              <a:rPr sz="2400" dirty="0" err="1">
                <a:solidFill>
                  <a:srgbClr val="333333"/>
                </a:solidFill>
              </a:rPr>
              <a:t>realizat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exclusiv</a:t>
            </a:r>
            <a:r>
              <a:rPr sz="2400" dirty="0">
                <a:solidFill>
                  <a:srgbClr val="333333"/>
                </a:solidFill>
              </a:rPr>
              <a:t> cu </a:t>
            </a:r>
            <a:r>
              <a:rPr sz="2400" dirty="0" err="1">
                <a:solidFill>
                  <a:srgbClr val="333333"/>
                </a:solidFill>
              </a:rPr>
              <a:t>fișiere</a:t>
            </a:r>
            <a:r>
              <a:rPr sz="2400" dirty="0">
                <a:solidFill>
                  <a:srgbClr val="333333"/>
                </a:solidFill>
              </a:rPr>
              <a:t> FIFO</a:t>
            </a: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Există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unul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sau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mai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mulți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clienți</a:t>
            </a:r>
            <a:r>
              <a:rPr sz="2400" dirty="0">
                <a:solidFill>
                  <a:srgbClr val="333333"/>
                </a:solidFill>
              </a:rPr>
              <a:t> care </a:t>
            </a:r>
            <a:r>
              <a:rPr sz="2400" dirty="0" err="1">
                <a:solidFill>
                  <a:srgbClr val="333333"/>
                </a:solidFill>
              </a:rPr>
              <a:t>vor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să</a:t>
            </a:r>
            <a:r>
              <a:rPr sz="2400" dirty="0">
                <a:solidFill>
                  <a:srgbClr val="333333"/>
                </a:solidFill>
              </a:rPr>
              <a:t> execute </a:t>
            </a:r>
            <a:r>
              <a:rPr sz="2400" dirty="0" err="1">
                <a:solidFill>
                  <a:srgbClr val="333333"/>
                </a:solidFill>
              </a:rPr>
              <a:t>comenzi</a:t>
            </a:r>
            <a:r>
              <a:rPr sz="2400" dirty="0">
                <a:solidFill>
                  <a:srgbClr val="333333"/>
                </a:solidFill>
              </a:rPr>
              <a:t> la </a:t>
            </a:r>
            <a:r>
              <a:rPr sz="2400" dirty="0" err="1">
                <a:solidFill>
                  <a:srgbClr val="333333"/>
                </a:solidFill>
              </a:rPr>
              <a:t>distanță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Există</a:t>
            </a:r>
            <a:r>
              <a:rPr sz="2400" dirty="0">
                <a:solidFill>
                  <a:srgbClr val="333333"/>
                </a:solidFill>
              </a:rPr>
              <a:t> un server master (RSHD)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N </a:t>
            </a:r>
            <a:r>
              <a:rPr sz="2400" dirty="0" err="1">
                <a:solidFill>
                  <a:srgbClr val="333333"/>
                </a:solidFill>
              </a:rPr>
              <a:t>servere</a:t>
            </a:r>
            <a:r>
              <a:rPr sz="2400" dirty="0">
                <a:solidFill>
                  <a:srgbClr val="333333"/>
                </a:solidFill>
              </a:rPr>
              <a:t> slave care </a:t>
            </a:r>
            <a:r>
              <a:rPr sz="2400" dirty="0" err="1">
                <a:solidFill>
                  <a:srgbClr val="333333"/>
                </a:solidFill>
              </a:rPr>
              <a:t>execută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comenzile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Toate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cererile</a:t>
            </a:r>
            <a:r>
              <a:rPr sz="2400" dirty="0">
                <a:solidFill>
                  <a:srgbClr val="333333"/>
                </a:solidFill>
              </a:rPr>
              <a:t> de la </a:t>
            </a:r>
            <a:r>
              <a:rPr sz="2400" dirty="0" err="1">
                <a:solidFill>
                  <a:srgbClr val="333333"/>
                </a:solidFill>
              </a:rPr>
              <a:t>clienți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pleacă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către</a:t>
            </a:r>
            <a:r>
              <a:rPr sz="2400" dirty="0">
                <a:solidFill>
                  <a:srgbClr val="333333"/>
                </a:solidFill>
              </a:rPr>
              <a:t> master </a:t>
            </a:r>
            <a:r>
              <a:rPr sz="2400" dirty="0" err="1">
                <a:solidFill>
                  <a:srgbClr val="333333"/>
                </a:solidFill>
              </a:rPr>
              <a:t>printr</a:t>
            </a:r>
            <a:r>
              <a:rPr sz="2400" dirty="0">
                <a:solidFill>
                  <a:srgbClr val="333333"/>
                </a:solidFill>
              </a:rPr>
              <a:t>-un FIFO cu </a:t>
            </a:r>
            <a:r>
              <a:rPr sz="2400" dirty="0" err="1">
                <a:solidFill>
                  <a:srgbClr val="333333"/>
                </a:solidFill>
              </a:rPr>
              <a:t>nume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cunoscut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Răspunsul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fiecare</a:t>
            </a:r>
            <a:r>
              <a:rPr sz="2400" dirty="0">
                <a:solidFill>
                  <a:srgbClr val="333333"/>
                </a:solidFill>
              </a:rPr>
              <a:t> client </a:t>
            </a:r>
            <a:r>
              <a:rPr sz="2400" dirty="0" err="1">
                <a:solidFill>
                  <a:srgbClr val="333333"/>
                </a:solidFill>
              </a:rPr>
              <a:t>trebuie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trimis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înapoi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doar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către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acel</a:t>
            </a:r>
            <a:r>
              <a:rPr sz="2400" dirty="0">
                <a:solidFill>
                  <a:srgbClr val="333333"/>
                </a:solidFill>
              </a:rPr>
              <a:t> client</a:t>
            </a: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Soluția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modelează</a:t>
            </a:r>
            <a:r>
              <a:rPr sz="2400" dirty="0">
                <a:solidFill>
                  <a:srgbClr val="333333"/>
                </a:solidFill>
              </a:rPr>
              <a:t> un </a:t>
            </a:r>
            <a:r>
              <a:rPr sz="2400" dirty="0" err="1">
                <a:solidFill>
                  <a:srgbClr val="333333"/>
                </a:solidFill>
              </a:rPr>
              <a:t>sistem</a:t>
            </a:r>
            <a:r>
              <a:rPr sz="2400" dirty="0">
                <a:solidFill>
                  <a:srgbClr val="333333"/>
                </a:solidFill>
              </a:rPr>
              <a:t> real tip client–server (similar conceptual cu SSH)</a:t>
            </a:r>
          </a:p>
          <a:p>
            <a:endParaRPr sz="24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 dirty="0" err="1">
                <a:solidFill>
                  <a:srgbClr val="225588"/>
                </a:solidFill>
              </a:rPr>
              <a:t>Specificația</a:t>
            </a:r>
            <a:r>
              <a:rPr sz="4000" b="1" dirty="0">
                <a:solidFill>
                  <a:srgbClr val="225588"/>
                </a:solidFill>
              </a:rPr>
              <a:t> </a:t>
            </a:r>
            <a:r>
              <a:rPr sz="4000" b="1" dirty="0" err="1">
                <a:solidFill>
                  <a:srgbClr val="225588"/>
                </a:solidFill>
              </a:rPr>
              <a:t>soluției</a:t>
            </a:r>
            <a:endParaRPr sz="4000" b="1" dirty="0">
              <a:solidFill>
                <a:srgbClr val="225588"/>
              </a:solidFill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838080" y="1604880"/>
            <a:ext cx="10992960" cy="48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Specificația</a:t>
            </a:r>
            <a:r>
              <a:rPr lang="en-US" sz="2400" dirty="0"/>
              <a:t> </a:t>
            </a:r>
            <a:r>
              <a:rPr lang="en-US" sz="2400" dirty="0" err="1"/>
              <a:t>soluției</a:t>
            </a:r>
            <a:r>
              <a:rPr lang="en-US" sz="2400" dirty="0"/>
              <a:t> (</a:t>
            </a:r>
            <a:r>
              <a:rPr lang="en-US" sz="2400" dirty="0" err="1"/>
              <a:t>variantă</a:t>
            </a:r>
            <a:r>
              <a:rPr lang="en-US" sz="2400" dirty="0"/>
              <a:t> </a:t>
            </a:r>
            <a:r>
              <a:rPr lang="en-US" sz="2400" dirty="0" err="1"/>
              <a:t>simplificată</a:t>
            </a:r>
            <a:r>
              <a:rPr lang="en-US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Clientul</a:t>
            </a:r>
            <a:r>
              <a:rPr lang="en-US" sz="2400" dirty="0"/>
              <a:t> </a:t>
            </a:r>
            <a:r>
              <a:rPr lang="en-US" sz="2400" dirty="0" err="1"/>
              <a:t>trimite</a:t>
            </a:r>
            <a:r>
              <a:rPr lang="en-US" sz="2400" dirty="0"/>
              <a:t> </a:t>
            </a:r>
            <a:r>
              <a:rPr lang="en-US" sz="2400" dirty="0" err="1"/>
              <a:t>către</a:t>
            </a:r>
            <a:r>
              <a:rPr lang="en-US" sz="2400" dirty="0"/>
              <a:t> server o </a:t>
            </a:r>
            <a:r>
              <a:rPr lang="en-US" sz="2400" dirty="0" err="1"/>
              <a:t>comandă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Cererea</a:t>
            </a:r>
            <a:r>
              <a:rPr lang="en-US" sz="2400" dirty="0"/>
              <a:t> </a:t>
            </a:r>
            <a:r>
              <a:rPr lang="en-US" sz="2400" dirty="0" err="1"/>
              <a:t>conține</a:t>
            </a:r>
            <a:r>
              <a:rPr lang="en-US" sz="2400" dirty="0"/>
              <a:t> PID-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dirty="0" err="1"/>
              <a:t>clientului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comanda</a:t>
            </a:r>
            <a:r>
              <a:rPr lang="en-US" sz="2400" dirty="0"/>
              <a:t> de </a:t>
            </a:r>
            <a:r>
              <a:rPr lang="en-US" sz="2400" dirty="0" err="1"/>
              <a:t>executat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Cererea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trimisă</a:t>
            </a:r>
            <a:r>
              <a:rPr lang="en-US" sz="2400" dirty="0"/>
              <a:t> </a:t>
            </a:r>
            <a:r>
              <a:rPr lang="en-US" sz="2400" dirty="0" err="1"/>
              <a:t>într</a:t>
            </a:r>
            <a:r>
              <a:rPr lang="en-US" sz="2400" dirty="0"/>
              <a:t>-un FIFO principal (al </a:t>
            </a:r>
            <a:r>
              <a:rPr lang="en-US" sz="2400" dirty="0" err="1"/>
              <a:t>serverului</a:t>
            </a:r>
            <a:r>
              <a:rPr lang="en-US" sz="2400" dirty="0"/>
              <a:t> master)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Serverul</a:t>
            </a:r>
            <a:r>
              <a:rPr lang="en-US" sz="2400" dirty="0"/>
              <a:t> master </a:t>
            </a:r>
            <a:r>
              <a:rPr lang="en-US" sz="2400" dirty="0" err="1"/>
              <a:t>primește</a:t>
            </a:r>
            <a:r>
              <a:rPr lang="en-US" sz="2400" dirty="0"/>
              <a:t> </a:t>
            </a:r>
            <a:r>
              <a:rPr lang="en-US" sz="2400" dirty="0" err="1"/>
              <a:t>cererea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Masterul</a:t>
            </a:r>
            <a:r>
              <a:rPr lang="en-US" sz="2400" dirty="0"/>
              <a:t> o </a:t>
            </a:r>
            <a:r>
              <a:rPr lang="en-US" sz="2400" dirty="0" err="1"/>
              <a:t>trimite</a:t>
            </a:r>
            <a:r>
              <a:rPr lang="en-US" sz="2400" dirty="0"/>
              <a:t> </a:t>
            </a:r>
            <a:r>
              <a:rPr lang="en-US" sz="2400" dirty="0" err="1"/>
              <a:t>către</a:t>
            </a:r>
            <a:r>
              <a:rPr lang="en-US" sz="2400" dirty="0"/>
              <a:t> un server slave,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rând</a:t>
            </a:r>
            <a:r>
              <a:rPr lang="en-US" sz="2400" dirty="0"/>
              <a:t> (Round-Robin)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Serverul</a:t>
            </a:r>
            <a:r>
              <a:rPr lang="en-US" sz="2400" dirty="0"/>
              <a:t> slave </a:t>
            </a:r>
            <a:r>
              <a:rPr lang="en-US" sz="2400" dirty="0" err="1"/>
              <a:t>execută</a:t>
            </a:r>
            <a:r>
              <a:rPr lang="en-US" sz="2400" dirty="0"/>
              <a:t> </a:t>
            </a:r>
            <a:r>
              <a:rPr lang="en-US" sz="2400" dirty="0" err="1"/>
              <a:t>comanda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Rezultatul</a:t>
            </a:r>
            <a:r>
              <a:rPr lang="en-US" sz="2400" dirty="0"/>
              <a:t> </a:t>
            </a:r>
            <a:r>
              <a:rPr lang="en-US" sz="2400" dirty="0" err="1"/>
              <a:t>comenzii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trimis</a:t>
            </a:r>
            <a:r>
              <a:rPr lang="en-US" sz="2400" dirty="0"/>
              <a:t> </a:t>
            </a:r>
            <a:r>
              <a:rPr lang="en-US" sz="2400" dirty="0" err="1"/>
              <a:t>înapoi</a:t>
            </a:r>
            <a:r>
              <a:rPr lang="en-US" sz="2400" dirty="0"/>
              <a:t> </a:t>
            </a:r>
            <a:r>
              <a:rPr lang="en-US" sz="2400" dirty="0" err="1"/>
              <a:t>clientului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Fiecare</a:t>
            </a:r>
            <a:r>
              <a:rPr lang="en-US" sz="2400" dirty="0"/>
              <a:t> client </a:t>
            </a:r>
            <a:r>
              <a:rPr lang="en-US" sz="2400" dirty="0" err="1"/>
              <a:t>primește</a:t>
            </a:r>
            <a:r>
              <a:rPr lang="en-US" sz="2400" dirty="0"/>
              <a:t> </a:t>
            </a:r>
            <a:r>
              <a:rPr lang="en-US" sz="2400" dirty="0" err="1"/>
              <a:t>rezultatul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FIFO-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 err="1"/>
              <a:t>propriu</a:t>
            </a:r>
            <a:endParaRPr lang="en-US" sz="2400" dirty="0"/>
          </a:p>
          <a:p>
            <a:endParaRPr sz="24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>
                <a:solidFill>
                  <a:srgbClr val="225588"/>
                </a:solidFill>
              </a:rPr>
              <a:t>Design</a:t>
            </a:r>
          </a:p>
        </p:txBody>
      </p:sp>
      <p:sp>
        <p:nvSpPr>
          <p:cNvPr id="81" name="CustomShape 2"/>
          <p:cNvSpPr/>
          <p:nvPr/>
        </p:nvSpPr>
        <p:spPr>
          <a:xfrm>
            <a:off x="838080" y="1604880"/>
            <a:ext cx="10992960" cy="48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r>
              <a:rPr sz="2000">
                <a:solidFill>
                  <a:srgbClr val="333333"/>
                </a:solidFill>
              </a:rPr>
              <a:t>• Componenta Client:</a:t>
            </a:r>
          </a:p>
          <a:p>
            <a:r>
              <a:rPr sz="2000">
                <a:solidFill>
                  <a:srgbClr val="333333"/>
                </a:solidFill>
              </a:rPr>
              <a:t>    – citește comanda de la utilizator</a:t>
            </a:r>
          </a:p>
          <a:p>
            <a:r>
              <a:rPr sz="2000">
                <a:solidFill>
                  <a:srgbClr val="333333"/>
                </a:solidFill>
              </a:rPr>
              <a:t>    – află PID-ul propriu ($$) și creează FIFO-ul /tmp/server-reply-PID</a:t>
            </a:r>
          </a:p>
          <a:p>
            <a:r>
              <a:rPr sz="2000">
                <a:solidFill>
                  <a:srgbClr val="333333"/>
                </a:solidFill>
              </a:rPr>
              <a:t>    – formatează cererea și o scrie în well-known FIFO</a:t>
            </a:r>
          </a:p>
          <a:p>
            <a:r>
              <a:rPr sz="2000">
                <a:solidFill>
                  <a:srgbClr val="333333"/>
                </a:solidFill>
              </a:rPr>
              <a:t>    – citește rezultatul din FIFO-ul personal și îl afișează, apoi șterge FIFO-ul</a:t>
            </a:r>
          </a:p>
          <a:p>
            <a:r>
              <a:rPr sz="2000">
                <a:solidFill>
                  <a:srgbClr val="333333"/>
                </a:solidFill>
              </a:rPr>
              <a:t>• Serverul master RSHD:</a:t>
            </a:r>
          </a:p>
          <a:p>
            <a:r>
              <a:rPr sz="2000">
                <a:solidFill>
                  <a:srgbClr val="333333"/>
                </a:solidFill>
              </a:rPr>
              <a:t>    – citește fișierul de configurare (numele FIFO-ului master, N, FIFO-urile slave)</a:t>
            </a:r>
          </a:p>
          <a:p>
            <a:r>
              <a:rPr sz="2000">
                <a:solidFill>
                  <a:srgbClr val="333333"/>
                </a:solidFill>
              </a:rPr>
              <a:t>    – creează FIFO-urile și pornește N procese slave</a:t>
            </a:r>
          </a:p>
          <a:p>
            <a:r>
              <a:rPr sz="2000">
                <a:solidFill>
                  <a:srgbClr val="333333"/>
                </a:solidFill>
              </a:rPr>
              <a:t>    – pentru fiecare cerere: parsează PID + comandă și o trimite unui slave (Round-Robin)</a:t>
            </a:r>
          </a:p>
          <a:p>
            <a:r>
              <a:rPr sz="2000">
                <a:solidFill>
                  <a:srgbClr val="333333"/>
                </a:solidFill>
              </a:rPr>
              <a:t>• Serverele slave:</a:t>
            </a:r>
          </a:p>
          <a:p>
            <a:r>
              <a:rPr sz="2000">
                <a:solidFill>
                  <a:srgbClr val="333333"/>
                </a:solidFill>
              </a:rPr>
              <a:t>    – ascultă pe FIFO-ul propriu</a:t>
            </a:r>
          </a:p>
          <a:p>
            <a:r>
              <a:rPr sz="2000">
                <a:solidFill>
                  <a:srgbClr val="333333"/>
                </a:solidFill>
              </a:rPr>
              <a:t>    – execută comanda primită și scriu output-ul în FIFO-ul /tmp/server-reply-PID</a:t>
            </a:r>
          </a:p>
          <a:p>
            <a:r>
              <a:rPr sz="2000">
                <a:solidFill>
                  <a:srgbClr val="333333"/>
                </a:solidFill>
              </a:rPr>
              <a:t>• Model arhitectural: master–worker, cu master ca dispatcher și slave-uri ca workeri</a:t>
            </a:r>
          </a:p>
          <a:p>
            <a:endParaRPr sz="200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>
                <a:solidFill>
                  <a:srgbClr val="225588"/>
                </a:solidFill>
              </a:rPr>
              <a:t>Implementare</a:t>
            </a:r>
          </a:p>
        </p:txBody>
      </p:sp>
      <p:sp>
        <p:nvSpPr>
          <p:cNvPr id="83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/>
          <a:lstStyle/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Limbaj</a:t>
            </a:r>
            <a:r>
              <a:rPr sz="2400" dirty="0">
                <a:solidFill>
                  <a:srgbClr val="333333"/>
                </a:solidFill>
              </a:rPr>
              <a:t>: </a:t>
            </a:r>
            <a:r>
              <a:rPr sz="2400" dirty="0" err="1">
                <a:solidFill>
                  <a:srgbClr val="333333"/>
                </a:solidFill>
              </a:rPr>
              <a:t>scripturi</a:t>
            </a:r>
            <a:r>
              <a:rPr sz="2400" dirty="0">
                <a:solidFill>
                  <a:srgbClr val="333333"/>
                </a:solidFill>
              </a:rPr>
              <a:t> bash </a:t>
            </a:r>
            <a:r>
              <a:rPr sz="2400" dirty="0" err="1">
                <a:solidFill>
                  <a:srgbClr val="333333"/>
                </a:solidFill>
              </a:rPr>
              <a:t>rulate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</a:t>
            </a:r>
            <a:r>
              <a:rPr sz="2400" dirty="0">
                <a:solidFill>
                  <a:srgbClr val="333333"/>
                </a:solidFill>
              </a:rPr>
              <a:t> Linux</a:t>
            </a: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Fișier</a:t>
            </a:r>
            <a:r>
              <a:rPr sz="2400" dirty="0">
                <a:solidFill>
                  <a:srgbClr val="333333"/>
                </a:solidFill>
              </a:rPr>
              <a:t> de </a:t>
            </a:r>
            <a:r>
              <a:rPr sz="2400" dirty="0" err="1">
                <a:solidFill>
                  <a:srgbClr val="333333"/>
                </a:solidFill>
              </a:rPr>
              <a:t>configurare</a:t>
            </a:r>
            <a:r>
              <a:rPr sz="2400" dirty="0">
                <a:solidFill>
                  <a:srgbClr val="333333"/>
                </a:solidFill>
              </a:rPr>
              <a:t> (</a:t>
            </a:r>
            <a:r>
              <a:rPr sz="2400" dirty="0" err="1">
                <a:solidFill>
                  <a:srgbClr val="333333"/>
                </a:solidFill>
              </a:rPr>
              <a:t>rshd.conf</a:t>
            </a:r>
            <a:r>
              <a:rPr sz="2400" dirty="0">
                <a:solidFill>
                  <a:srgbClr val="333333"/>
                </a:solidFill>
              </a:rPr>
              <a:t>):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calea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către</a:t>
            </a:r>
            <a:r>
              <a:rPr sz="2400" dirty="0">
                <a:solidFill>
                  <a:srgbClr val="333333"/>
                </a:solidFill>
              </a:rPr>
              <a:t> well-known FIFO-</a:t>
            </a:r>
            <a:r>
              <a:rPr sz="2400" dirty="0" err="1">
                <a:solidFill>
                  <a:srgbClr val="333333"/>
                </a:solidFill>
              </a:rPr>
              <a:t>ul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masterului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numărul</a:t>
            </a:r>
            <a:r>
              <a:rPr sz="2400" dirty="0">
                <a:solidFill>
                  <a:srgbClr val="333333"/>
                </a:solidFill>
              </a:rPr>
              <a:t> N de </a:t>
            </a:r>
            <a:r>
              <a:rPr sz="2400" dirty="0" err="1">
                <a:solidFill>
                  <a:srgbClr val="333333"/>
                </a:solidFill>
              </a:rPr>
              <a:t>servere</a:t>
            </a:r>
            <a:r>
              <a:rPr sz="2400" dirty="0">
                <a:solidFill>
                  <a:srgbClr val="333333"/>
                </a:solidFill>
              </a:rPr>
              <a:t> slave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lista</a:t>
            </a:r>
            <a:r>
              <a:rPr sz="2400" dirty="0">
                <a:solidFill>
                  <a:srgbClr val="333333"/>
                </a:solidFill>
              </a:rPr>
              <a:t> FIFO-</a:t>
            </a:r>
            <a:r>
              <a:rPr sz="2400" dirty="0" err="1">
                <a:solidFill>
                  <a:srgbClr val="333333"/>
                </a:solidFill>
              </a:rPr>
              <a:t>urilor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fiecare</a:t>
            </a:r>
            <a:r>
              <a:rPr sz="2400" dirty="0">
                <a:solidFill>
                  <a:srgbClr val="333333"/>
                </a:solidFill>
              </a:rPr>
              <a:t> slave</a:t>
            </a: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Scripturi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planificate</a:t>
            </a:r>
            <a:r>
              <a:rPr sz="2400" dirty="0">
                <a:solidFill>
                  <a:srgbClr val="333333"/>
                </a:solidFill>
              </a:rPr>
              <a:t>:</a:t>
            </a:r>
          </a:p>
          <a:p>
            <a:r>
              <a:rPr sz="2400" dirty="0">
                <a:solidFill>
                  <a:srgbClr val="333333"/>
                </a:solidFill>
              </a:rPr>
              <a:t>    – client.sh – </a:t>
            </a:r>
            <a:r>
              <a:rPr sz="2400" dirty="0" err="1">
                <a:solidFill>
                  <a:srgbClr val="333333"/>
                </a:solidFill>
              </a:rPr>
              <a:t>interfața</a:t>
            </a:r>
            <a:r>
              <a:rPr sz="2400" dirty="0">
                <a:solidFill>
                  <a:srgbClr val="333333"/>
                </a:solidFill>
              </a:rPr>
              <a:t> cu </a:t>
            </a:r>
            <a:r>
              <a:rPr sz="2400" dirty="0" err="1">
                <a:solidFill>
                  <a:srgbClr val="333333"/>
                </a:solidFill>
              </a:rPr>
              <a:t>utilizatorul</a:t>
            </a:r>
            <a:r>
              <a:rPr sz="2400" dirty="0">
                <a:solidFill>
                  <a:srgbClr val="333333"/>
                </a:solidFill>
              </a:rPr>
              <a:t>, </a:t>
            </a:r>
            <a:r>
              <a:rPr sz="2400" dirty="0" err="1">
                <a:solidFill>
                  <a:srgbClr val="333333"/>
                </a:solidFill>
              </a:rPr>
              <a:t>trimiterea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cererii</a:t>
            </a:r>
            <a:r>
              <a:rPr sz="2400" dirty="0">
                <a:solidFill>
                  <a:srgbClr val="333333"/>
                </a:solidFill>
              </a:rPr>
              <a:t>, </a:t>
            </a:r>
            <a:r>
              <a:rPr sz="2400" dirty="0" err="1">
                <a:solidFill>
                  <a:srgbClr val="333333"/>
                </a:solidFill>
              </a:rPr>
              <a:t>citirea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răspunsului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    – master.sh – </a:t>
            </a:r>
            <a:r>
              <a:rPr sz="2400" dirty="0" err="1">
                <a:solidFill>
                  <a:srgbClr val="333333"/>
                </a:solidFill>
              </a:rPr>
              <a:t>citirea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cererilor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distribuirea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lor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către</a:t>
            </a:r>
            <a:r>
              <a:rPr sz="2400" dirty="0">
                <a:solidFill>
                  <a:srgbClr val="333333"/>
                </a:solidFill>
              </a:rPr>
              <a:t> slave-</a:t>
            </a:r>
            <a:r>
              <a:rPr sz="2400" dirty="0" err="1">
                <a:solidFill>
                  <a:srgbClr val="333333"/>
                </a:solidFill>
              </a:rPr>
              <a:t>uri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    – slave.sh – </a:t>
            </a:r>
            <a:r>
              <a:rPr sz="2400" dirty="0" err="1">
                <a:solidFill>
                  <a:srgbClr val="333333"/>
                </a:solidFill>
              </a:rPr>
              <a:t>executarea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comenzilor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clienți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Mecanisme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folosite</a:t>
            </a:r>
            <a:r>
              <a:rPr sz="2400" dirty="0">
                <a:solidFill>
                  <a:srgbClr val="333333"/>
                </a:solidFill>
              </a:rPr>
              <a:t>: </a:t>
            </a:r>
            <a:r>
              <a:rPr sz="2400" dirty="0" err="1">
                <a:solidFill>
                  <a:srgbClr val="333333"/>
                </a:solidFill>
              </a:rPr>
              <a:t>mkfifo</a:t>
            </a:r>
            <a:r>
              <a:rPr sz="2400" dirty="0">
                <a:solidFill>
                  <a:srgbClr val="333333"/>
                </a:solidFill>
              </a:rPr>
              <a:t>, </a:t>
            </a:r>
            <a:r>
              <a:rPr sz="2400" dirty="0" err="1">
                <a:solidFill>
                  <a:srgbClr val="333333"/>
                </a:solidFill>
              </a:rPr>
              <a:t>redirecționări</a:t>
            </a:r>
            <a:r>
              <a:rPr sz="2400" dirty="0">
                <a:solidFill>
                  <a:srgbClr val="333333"/>
                </a:solidFill>
              </a:rPr>
              <a:t> (&gt;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2&gt;&amp;1), </a:t>
            </a:r>
            <a:r>
              <a:rPr sz="2400" dirty="0" err="1">
                <a:solidFill>
                  <a:srgbClr val="333333"/>
                </a:solidFill>
              </a:rPr>
              <a:t>eval</a:t>
            </a:r>
            <a:r>
              <a:rPr sz="2400" dirty="0">
                <a:solidFill>
                  <a:srgbClr val="333333"/>
                </a:solidFill>
              </a:rPr>
              <a:t>/</a:t>
            </a:r>
            <a:r>
              <a:rPr sz="2400" dirty="0" err="1">
                <a:solidFill>
                  <a:srgbClr val="333333"/>
                </a:solidFill>
              </a:rPr>
              <a:t>sh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comenzi</a:t>
            </a:r>
            <a:endParaRPr sz="2400" dirty="0">
              <a:solidFill>
                <a:srgbClr val="333333"/>
              </a:solidFill>
            </a:endParaRPr>
          </a:p>
          <a:p>
            <a:endParaRPr sz="24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>
                <a:solidFill>
                  <a:srgbClr val="225588"/>
                </a:solidFill>
              </a:rPr>
              <a:t>Experimente</a:t>
            </a:r>
          </a:p>
        </p:txBody>
      </p:sp>
      <p:sp>
        <p:nvSpPr>
          <p:cNvPr id="85" name="CustomShape 2"/>
          <p:cNvSpPr/>
          <p:nvPr/>
        </p:nvSpPr>
        <p:spPr>
          <a:xfrm>
            <a:off x="838080" y="1384560"/>
            <a:ext cx="10513440" cy="4909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sz="20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Arhitectură</a:t>
            </a:r>
            <a:r>
              <a:rPr sz="2400" dirty="0">
                <a:solidFill>
                  <a:srgbClr val="333333"/>
                </a:solidFill>
              </a:rPr>
              <a:t> de test:</a:t>
            </a:r>
          </a:p>
          <a:p>
            <a:r>
              <a:rPr sz="2400" dirty="0">
                <a:solidFill>
                  <a:srgbClr val="333333"/>
                </a:solidFill>
              </a:rPr>
              <a:t>    – un </a:t>
            </a:r>
            <a:r>
              <a:rPr sz="2400" dirty="0" err="1">
                <a:solidFill>
                  <a:srgbClr val="333333"/>
                </a:solidFill>
              </a:rPr>
              <a:t>sistem</a:t>
            </a:r>
            <a:r>
              <a:rPr sz="2400" dirty="0">
                <a:solidFill>
                  <a:srgbClr val="333333"/>
                </a:solidFill>
              </a:rPr>
              <a:t> Linux (</a:t>
            </a:r>
            <a:r>
              <a:rPr sz="2400" dirty="0" err="1">
                <a:solidFill>
                  <a:srgbClr val="333333"/>
                </a:solidFill>
              </a:rPr>
              <a:t>fizic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sau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mașină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virtuală</a:t>
            </a:r>
            <a:r>
              <a:rPr sz="2400" dirty="0">
                <a:solidFill>
                  <a:srgbClr val="333333"/>
                </a:solidFill>
              </a:rPr>
              <a:t>)</a:t>
            </a:r>
          </a:p>
          <a:p>
            <a:r>
              <a:rPr sz="2400" dirty="0">
                <a:solidFill>
                  <a:srgbClr val="333333"/>
                </a:solidFill>
              </a:rPr>
              <a:t>    – 1 server master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N </a:t>
            </a:r>
            <a:r>
              <a:rPr sz="2400" dirty="0" err="1">
                <a:solidFill>
                  <a:srgbClr val="333333"/>
                </a:solidFill>
              </a:rPr>
              <a:t>servere</a:t>
            </a:r>
            <a:r>
              <a:rPr sz="2400" dirty="0">
                <a:solidFill>
                  <a:srgbClr val="333333"/>
                </a:solidFill>
              </a:rPr>
              <a:t> slave (ex. N = 3)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mai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mulți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clienți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lansați</a:t>
            </a:r>
            <a:r>
              <a:rPr sz="2400" dirty="0">
                <a:solidFill>
                  <a:srgbClr val="333333"/>
                </a:solidFill>
              </a:rPr>
              <a:t> din </a:t>
            </a:r>
            <a:r>
              <a:rPr sz="2400" dirty="0" err="1">
                <a:solidFill>
                  <a:srgbClr val="333333"/>
                </a:solidFill>
              </a:rPr>
              <a:t>terminale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diferite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Scenarii</a:t>
            </a:r>
            <a:r>
              <a:rPr sz="2400" dirty="0">
                <a:solidFill>
                  <a:srgbClr val="333333"/>
                </a:solidFill>
              </a:rPr>
              <a:t>: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comenzi</a:t>
            </a:r>
            <a:r>
              <a:rPr sz="2400" dirty="0">
                <a:solidFill>
                  <a:srgbClr val="333333"/>
                </a:solidFill>
              </a:rPr>
              <a:t> simple: ls, </a:t>
            </a:r>
            <a:r>
              <a:rPr sz="2400" dirty="0" err="1">
                <a:solidFill>
                  <a:srgbClr val="333333"/>
                </a:solidFill>
              </a:rPr>
              <a:t>pwd</a:t>
            </a:r>
            <a:r>
              <a:rPr sz="2400" dirty="0">
                <a:solidFill>
                  <a:srgbClr val="333333"/>
                </a:solidFill>
              </a:rPr>
              <a:t>, echo "hello"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comenzi</a:t>
            </a:r>
            <a:r>
              <a:rPr sz="2400" dirty="0">
                <a:solidFill>
                  <a:srgbClr val="333333"/>
                </a:solidFill>
              </a:rPr>
              <a:t> cu pipe-</a:t>
            </a:r>
            <a:r>
              <a:rPr sz="2400" dirty="0" err="1">
                <a:solidFill>
                  <a:srgbClr val="333333"/>
                </a:solidFill>
              </a:rPr>
              <a:t>uri</a:t>
            </a:r>
            <a:r>
              <a:rPr sz="2400" dirty="0">
                <a:solidFill>
                  <a:srgbClr val="333333"/>
                </a:solidFill>
              </a:rPr>
              <a:t>: ls -l | </a:t>
            </a:r>
            <a:r>
              <a:rPr sz="2400" dirty="0" err="1">
                <a:solidFill>
                  <a:srgbClr val="333333"/>
                </a:solidFill>
              </a:rPr>
              <a:t>wc</a:t>
            </a:r>
            <a:r>
              <a:rPr sz="2400" dirty="0">
                <a:solidFill>
                  <a:srgbClr val="333333"/>
                </a:solidFill>
              </a:rPr>
              <a:t> -l, </a:t>
            </a:r>
            <a:r>
              <a:rPr sz="2400" dirty="0" err="1">
                <a:solidFill>
                  <a:srgbClr val="333333"/>
                </a:solidFill>
              </a:rPr>
              <a:t>ps</a:t>
            </a:r>
            <a:r>
              <a:rPr sz="2400" dirty="0">
                <a:solidFill>
                  <a:srgbClr val="333333"/>
                </a:solidFill>
              </a:rPr>
              <a:t> aux | </a:t>
            </a:r>
            <a:r>
              <a:rPr sz="2400" dirty="0" err="1">
                <a:solidFill>
                  <a:srgbClr val="333333"/>
                </a:solidFill>
              </a:rPr>
              <a:t>grep</a:t>
            </a:r>
            <a:r>
              <a:rPr sz="2400" dirty="0">
                <a:solidFill>
                  <a:srgbClr val="333333"/>
                </a:solidFill>
              </a:rPr>
              <a:t> bash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comenzi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invalide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a </a:t>
            </a:r>
            <a:r>
              <a:rPr sz="2400" dirty="0" err="1">
                <a:solidFill>
                  <a:srgbClr val="333333"/>
                </a:solidFill>
              </a:rPr>
              <a:t>verifica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mesajele</a:t>
            </a:r>
            <a:r>
              <a:rPr sz="2400" dirty="0">
                <a:solidFill>
                  <a:srgbClr val="333333"/>
                </a:solidFill>
              </a:rPr>
              <a:t> de </a:t>
            </a:r>
            <a:r>
              <a:rPr sz="2400" dirty="0" err="1">
                <a:solidFill>
                  <a:srgbClr val="333333"/>
                </a:solidFill>
              </a:rPr>
              <a:t>eroare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Metrici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orientative</a:t>
            </a:r>
            <a:r>
              <a:rPr sz="2400" dirty="0">
                <a:solidFill>
                  <a:srgbClr val="333333"/>
                </a:solidFill>
              </a:rPr>
              <a:t>: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timp</a:t>
            </a:r>
            <a:r>
              <a:rPr sz="2400" dirty="0">
                <a:solidFill>
                  <a:srgbClr val="333333"/>
                </a:solidFill>
              </a:rPr>
              <a:t> de </a:t>
            </a:r>
            <a:r>
              <a:rPr sz="2400" dirty="0" err="1">
                <a:solidFill>
                  <a:srgbClr val="333333"/>
                </a:solidFill>
              </a:rPr>
              <a:t>răspuns</a:t>
            </a:r>
            <a:r>
              <a:rPr sz="2400" dirty="0">
                <a:solidFill>
                  <a:srgbClr val="333333"/>
                </a:solidFill>
              </a:rPr>
              <a:t> de la </a:t>
            </a:r>
            <a:r>
              <a:rPr sz="2400" dirty="0" err="1">
                <a:solidFill>
                  <a:srgbClr val="333333"/>
                </a:solidFill>
              </a:rPr>
              <a:t>trimiterea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cererii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până</a:t>
            </a:r>
            <a:r>
              <a:rPr sz="2400" dirty="0">
                <a:solidFill>
                  <a:srgbClr val="333333"/>
                </a:solidFill>
              </a:rPr>
              <a:t> la </a:t>
            </a:r>
            <a:r>
              <a:rPr sz="2400" dirty="0" err="1">
                <a:solidFill>
                  <a:srgbClr val="333333"/>
                </a:solidFill>
              </a:rPr>
              <a:t>ultimul</a:t>
            </a:r>
            <a:r>
              <a:rPr sz="2400" dirty="0">
                <a:solidFill>
                  <a:srgbClr val="333333"/>
                </a:solidFill>
              </a:rPr>
              <a:t> output</a:t>
            </a: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comportamentul</a:t>
            </a:r>
            <a:r>
              <a:rPr sz="2400" dirty="0">
                <a:solidFill>
                  <a:srgbClr val="333333"/>
                </a:solidFill>
              </a:rPr>
              <a:t> la </a:t>
            </a:r>
            <a:r>
              <a:rPr sz="2400" dirty="0" err="1">
                <a:solidFill>
                  <a:srgbClr val="333333"/>
                </a:solidFill>
              </a:rPr>
              <a:t>mai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mulți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clienți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simultan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    – </a:t>
            </a:r>
            <a:r>
              <a:rPr sz="2400" dirty="0" err="1">
                <a:solidFill>
                  <a:srgbClr val="333333"/>
                </a:solidFill>
              </a:rPr>
              <a:t>corectitudinea</a:t>
            </a:r>
            <a:r>
              <a:rPr sz="2400" dirty="0">
                <a:solidFill>
                  <a:srgbClr val="333333"/>
                </a:solidFill>
              </a:rPr>
              <a:t> output-</a:t>
            </a:r>
            <a:r>
              <a:rPr sz="2400" dirty="0" err="1">
                <a:solidFill>
                  <a:srgbClr val="333333"/>
                </a:solidFill>
              </a:rPr>
              <a:t>ului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față</a:t>
            </a:r>
            <a:r>
              <a:rPr sz="2400" dirty="0">
                <a:solidFill>
                  <a:srgbClr val="333333"/>
                </a:solidFill>
              </a:rPr>
              <a:t> de </a:t>
            </a:r>
            <a:r>
              <a:rPr sz="2400" dirty="0" err="1">
                <a:solidFill>
                  <a:srgbClr val="333333"/>
                </a:solidFill>
              </a:rPr>
              <a:t>rularea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locală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în</a:t>
            </a:r>
            <a:r>
              <a:rPr sz="2400" dirty="0">
                <a:solidFill>
                  <a:srgbClr val="333333"/>
                </a:solidFill>
              </a:rPr>
              <a:t> shell</a:t>
            </a:r>
          </a:p>
          <a:p>
            <a:endParaRPr sz="20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sz="4000" b="1">
                <a:solidFill>
                  <a:srgbClr val="225588"/>
                </a:solidFill>
              </a:rPr>
              <a:t>Concluzii</a:t>
            </a:r>
          </a:p>
        </p:txBody>
      </p:sp>
      <p:sp>
        <p:nvSpPr>
          <p:cNvPr id="87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sz="2400" dirty="0">
                <a:solidFill>
                  <a:srgbClr val="333333"/>
                </a:solidFill>
              </a:rPr>
              <a:t>• Am </a:t>
            </a:r>
            <a:r>
              <a:rPr sz="2400" dirty="0" err="1">
                <a:solidFill>
                  <a:srgbClr val="333333"/>
                </a:solidFill>
              </a:rPr>
              <a:t>analizat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problema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unui</a:t>
            </a:r>
            <a:r>
              <a:rPr sz="2400" dirty="0">
                <a:solidFill>
                  <a:srgbClr val="333333"/>
                </a:solidFill>
              </a:rPr>
              <a:t> remote shell </a:t>
            </a:r>
            <a:r>
              <a:rPr sz="2400" dirty="0" err="1">
                <a:solidFill>
                  <a:srgbClr val="333333"/>
                </a:solidFill>
              </a:rPr>
              <a:t>bazat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fișiere</a:t>
            </a:r>
            <a:r>
              <a:rPr sz="2400" dirty="0">
                <a:solidFill>
                  <a:srgbClr val="333333"/>
                </a:solidFill>
              </a:rPr>
              <a:t> FIFO (FIFO-RSHD)</a:t>
            </a:r>
          </a:p>
          <a:p>
            <a:r>
              <a:rPr sz="2400" dirty="0">
                <a:solidFill>
                  <a:srgbClr val="333333"/>
                </a:solidFill>
              </a:rPr>
              <a:t>• Am </a:t>
            </a:r>
            <a:r>
              <a:rPr sz="2400" dirty="0" err="1">
                <a:solidFill>
                  <a:srgbClr val="333333"/>
                </a:solidFill>
              </a:rPr>
              <a:t>definit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protocolul</a:t>
            </a:r>
            <a:r>
              <a:rPr sz="2400" dirty="0">
                <a:solidFill>
                  <a:srgbClr val="333333"/>
                </a:solidFill>
              </a:rPr>
              <a:t>: </a:t>
            </a:r>
            <a:r>
              <a:rPr sz="2400" dirty="0" err="1">
                <a:solidFill>
                  <a:srgbClr val="333333"/>
                </a:solidFill>
              </a:rPr>
              <a:t>formatul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cererii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FIFO-</a:t>
            </a:r>
            <a:r>
              <a:rPr sz="2400" dirty="0" err="1">
                <a:solidFill>
                  <a:srgbClr val="333333"/>
                </a:solidFill>
              </a:rPr>
              <a:t>urile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personalizate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clienți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Am </a:t>
            </a:r>
            <a:r>
              <a:rPr sz="2400" dirty="0" err="1">
                <a:solidFill>
                  <a:srgbClr val="333333"/>
                </a:solidFill>
              </a:rPr>
              <a:t>propus</a:t>
            </a:r>
            <a:r>
              <a:rPr sz="2400" dirty="0">
                <a:solidFill>
                  <a:srgbClr val="333333"/>
                </a:solidFill>
              </a:rPr>
              <a:t> o </a:t>
            </a:r>
            <a:r>
              <a:rPr sz="2400" dirty="0" err="1">
                <a:solidFill>
                  <a:srgbClr val="333333"/>
                </a:solidFill>
              </a:rPr>
              <a:t>arhitectură</a:t>
            </a:r>
            <a:r>
              <a:rPr sz="2400" dirty="0">
                <a:solidFill>
                  <a:srgbClr val="333333"/>
                </a:solidFill>
              </a:rPr>
              <a:t> master–multi-slave cu </a:t>
            </a:r>
            <a:r>
              <a:rPr sz="2400" dirty="0" err="1">
                <a:solidFill>
                  <a:srgbClr val="333333"/>
                </a:solidFill>
              </a:rPr>
              <a:t>distribuire</a:t>
            </a:r>
            <a:r>
              <a:rPr sz="2400" dirty="0">
                <a:solidFill>
                  <a:srgbClr val="333333"/>
                </a:solidFill>
              </a:rPr>
              <a:t> Round-Robin a </a:t>
            </a:r>
            <a:r>
              <a:rPr sz="2400" dirty="0" err="1">
                <a:solidFill>
                  <a:srgbClr val="333333"/>
                </a:solidFill>
              </a:rPr>
              <a:t>cererilor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Am </a:t>
            </a:r>
            <a:r>
              <a:rPr sz="2400" dirty="0" err="1">
                <a:solidFill>
                  <a:srgbClr val="333333"/>
                </a:solidFill>
              </a:rPr>
              <a:t>stabilit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componenta</a:t>
            </a:r>
            <a:r>
              <a:rPr sz="2400" dirty="0">
                <a:solidFill>
                  <a:srgbClr val="333333"/>
                </a:solidFill>
              </a:rPr>
              <a:t> software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mecanismele</a:t>
            </a:r>
            <a:r>
              <a:rPr sz="2400" dirty="0">
                <a:solidFill>
                  <a:srgbClr val="333333"/>
                </a:solidFill>
              </a:rPr>
              <a:t> care </a:t>
            </a:r>
            <a:r>
              <a:rPr sz="2400" dirty="0" err="1">
                <a:solidFill>
                  <a:srgbClr val="333333"/>
                </a:solidFill>
              </a:rPr>
              <a:t>vor</a:t>
            </a:r>
            <a:r>
              <a:rPr sz="2400" dirty="0">
                <a:solidFill>
                  <a:srgbClr val="333333"/>
                </a:solidFill>
              </a:rPr>
              <a:t> fi </a:t>
            </a:r>
            <a:r>
              <a:rPr sz="2400" dirty="0" err="1">
                <a:solidFill>
                  <a:srgbClr val="333333"/>
                </a:solidFill>
              </a:rPr>
              <a:t>implementate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în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etapa</a:t>
            </a:r>
            <a:r>
              <a:rPr sz="2400" dirty="0">
                <a:solidFill>
                  <a:srgbClr val="333333"/>
                </a:solidFill>
              </a:rPr>
              <a:t> a </a:t>
            </a:r>
            <a:r>
              <a:rPr sz="2400" dirty="0" err="1">
                <a:solidFill>
                  <a:srgbClr val="333333"/>
                </a:solidFill>
              </a:rPr>
              <a:t>doua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Am </a:t>
            </a:r>
            <a:r>
              <a:rPr sz="2400" dirty="0" err="1">
                <a:solidFill>
                  <a:srgbClr val="333333"/>
                </a:solidFill>
              </a:rPr>
              <a:t>definit</a:t>
            </a:r>
            <a:r>
              <a:rPr sz="2400" dirty="0">
                <a:solidFill>
                  <a:srgbClr val="333333"/>
                </a:solidFill>
              </a:rPr>
              <a:t> un plan de </a:t>
            </a:r>
            <a:r>
              <a:rPr sz="2400" dirty="0" err="1">
                <a:solidFill>
                  <a:srgbClr val="333333"/>
                </a:solidFill>
              </a:rPr>
              <a:t>implementare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un set de </a:t>
            </a:r>
            <a:r>
              <a:rPr sz="2400" dirty="0" err="1">
                <a:solidFill>
                  <a:srgbClr val="333333"/>
                </a:solidFill>
              </a:rPr>
              <a:t>experimente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pentru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testarea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soluției</a:t>
            </a:r>
            <a:endParaRPr sz="2400" dirty="0">
              <a:solidFill>
                <a:srgbClr val="333333"/>
              </a:solidFill>
            </a:endParaRPr>
          </a:p>
          <a:p>
            <a:r>
              <a:rPr sz="2400" dirty="0">
                <a:solidFill>
                  <a:srgbClr val="333333"/>
                </a:solidFill>
              </a:rPr>
              <a:t>• </a:t>
            </a:r>
            <a:r>
              <a:rPr sz="2400" dirty="0" err="1">
                <a:solidFill>
                  <a:srgbClr val="333333"/>
                </a:solidFill>
              </a:rPr>
              <a:t>Următorul</a:t>
            </a:r>
            <a:r>
              <a:rPr sz="2400" dirty="0">
                <a:solidFill>
                  <a:srgbClr val="333333"/>
                </a:solidFill>
              </a:rPr>
              <a:t> pas: </a:t>
            </a:r>
            <a:r>
              <a:rPr sz="2400" dirty="0" err="1">
                <a:solidFill>
                  <a:srgbClr val="333333"/>
                </a:solidFill>
              </a:rPr>
              <a:t>realizarea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scripturilor</a:t>
            </a:r>
            <a:r>
              <a:rPr sz="2400" dirty="0">
                <a:solidFill>
                  <a:srgbClr val="333333"/>
                </a:solidFill>
              </a:rPr>
              <a:t> bash </a:t>
            </a:r>
            <a:r>
              <a:rPr sz="2400" dirty="0" err="1">
                <a:solidFill>
                  <a:srgbClr val="333333"/>
                </a:solidFill>
              </a:rPr>
              <a:t>și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demonstrarea</a:t>
            </a:r>
            <a:r>
              <a:rPr sz="2400" dirty="0">
                <a:solidFill>
                  <a:srgbClr val="333333"/>
                </a:solidFill>
              </a:rPr>
              <a:t> </a:t>
            </a:r>
            <a:r>
              <a:rPr sz="2400" dirty="0" err="1">
                <a:solidFill>
                  <a:srgbClr val="333333"/>
                </a:solidFill>
              </a:rPr>
              <a:t>practică</a:t>
            </a:r>
            <a:r>
              <a:rPr sz="2400" dirty="0">
                <a:solidFill>
                  <a:srgbClr val="333333"/>
                </a:solidFill>
              </a:rPr>
              <a:t> a </a:t>
            </a:r>
            <a:r>
              <a:rPr sz="2400" dirty="0" err="1">
                <a:solidFill>
                  <a:srgbClr val="333333"/>
                </a:solidFill>
              </a:rPr>
              <a:t>sistemului</a:t>
            </a:r>
            <a:r>
              <a:rPr sz="2400" dirty="0">
                <a:solidFill>
                  <a:srgbClr val="333333"/>
                </a:solidFill>
              </a:rPr>
              <a:t> FIFO-RSHD</a:t>
            </a:r>
          </a:p>
          <a:p>
            <a:endParaRPr sz="20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11" ma:contentTypeDescription="Create a new document." ma:contentTypeScope="" ma:versionID="d2990f588da325deb326ba3bc5759684">
  <xsd:schema xmlns:xsd="http://www.w3.org/2001/XMLSchema" xmlns:xs="http://www.w3.org/2001/XMLSchema" xmlns:p="http://schemas.microsoft.com/office/2006/metadata/properties" xmlns:ns2="3fdd4eb4-493c-48cf-bddf-25f1a88be6fa" xmlns:ns3="5c9c8bf9-0949-40aa-b44c-7e98f82af279" targetNamespace="http://schemas.microsoft.com/office/2006/metadata/properties" ma:root="true" ma:fieldsID="dd2986408f834087e1d4fc90f4300009" ns2:_="" ns3:_="">
    <xsd:import namespace="3fdd4eb4-493c-48cf-bddf-25f1a88be6fa"/>
    <xsd:import namespace="5c9c8bf9-0949-40aa-b44c-7e98f82a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c8bf9-0949-40aa-b44c-7e98f82af2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44ef86-d410-4aab-9776-f81bc4fb9d14}" ma:internalName="TaxCatchAll" ma:showField="CatchAllData" ma:web="5c9c8bf9-0949-40aa-b44c-7e98f82a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9c8bf9-0949-40aa-b44c-7e98f82af279" xsi:nil="true"/>
    <lcf76f155ced4ddcb4097134ff3c332f xmlns="3fdd4eb4-493c-48cf-bddf-25f1a88be6f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CF61219-125C-4AFB-A569-F275F0F60016}"/>
</file>

<file path=customXml/itemProps2.xml><?xml version="1.0" encoding="utf-8"?>
<ds:datastoreItem xmlns:ds="http://schemas.openxmlformats.org/officeDocument/2006/customXml" ds:itemID="{1D1E13A5-8F63-48B3-92D6-018A83981B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89158E-B27D-4A14-8D7F-900788E03765}">
  <ds:schemaRefs>
    <ds:schemaRef ds:uri="http://www.w3.org/XML/1998/namespace"/>
    <ds:schemaRef ds:uri="http://schemas.microsoft.com/office/2006/documentManagement/types"/>
    <ds:schemaRef ds:uri="5c9c8bf9-0949-40aa-b44c-7e98f82af279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3fdd4eb4-493c-48cf-bddf-25f1a88be6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691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Paraleli</dc:title>
  <dc:subject/>
  <dc:creator>Andrei Patrascu</dc:creator>
  <dc:description/>
  <cp:lastModifiedBy>Darius</cp:lastModifiedBy>
  <cp:revision>3</cp:revision>
  <dcterms:created xsi:type="dcterms:W3CDTF">2021-03-01T13:17:33Z</dcterms:created>
  <dcterms:modified xsi:type="dcterms:W3CDTF">2025-12-15T12:28:11Z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0x010100416B40607B74BC429BA29107EE76F9BC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8</vt:i4>
  </property>
  <property fmtid="{D5CDD505-2E9C-101B-9397-08002B2CF9AE}" pid="13" name="MediaServiceImageTags">
    <vt:lpwstr/>
  </property>
</Properties>
</file>